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6054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87922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DEPARTMENT OF ECE — DIGITAL DESIGN &amp; COMPUTER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30822"/>
            <a:ext cx="860107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Module 2: Combinational Logic &amp; ALU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60452"/>
            <a:ext cx="8572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From Boolean Minimization to 32-Bit RISC-V Arithmetic Logic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489102"/>
            <a:ext cx="219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Inter"/>
              </a:rPr>
              <a:t>Course Code: 26EC1202E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451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5451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54510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9263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99263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99263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08788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775" y="308788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287" y="3087885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Combinational Logic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Core principles governing memoryless compute blocks in digital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526035"/>
            <a:ext cx="39754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Zero Feedback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87985"/>
            <a:ext cx="3124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Outputs depend strictly on present inputs. No storage elements, no memory states, and zero clock synchronization requirement.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526035"/>
            <a:ext cx="39754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Basic Gate Assemblies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887985"/>
            <a:ext cx="3124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Constructed directly from standard AND, OR, NOT, XOR, and NAND gates forming simple mathematical logic paths.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526035"/>
            <a:ext cx="387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RISC-V Building Blocks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887985"/>
            <a:ext cx="3124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Forms the fundamental compute engine inside processors including ALUs, MUX selectors, Decoders, and Comparators.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81700" y="2787848"/>
            <a:ext cx="5600700" cy="2219325"/>
          </a:xfrm>
          <a:prstGeom prst="roundRect">
            <a:avLst>
              <a:gd name="adj" fmla="val 51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02060"/>
            <a:ext cx="50673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83160"/>
            <a:ext cx="50673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64260"/>
            <a:ext cx="5067300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3978473"/>
            <a:ext cx="5067300" cy="762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8400" y="3978473"/>
            <a:ext cx="38100" cy="762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073598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Expression Minimization with K-Maps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Visual reduction technique optimizing logic gate counts for high-speed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054548"/>
            <a:ext cx="5943600" cy="20002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Example: 4-Variable K-Map 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3406973"/>
            <a:ext cx="51625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Minimal Sum-of-Products derivation eliminates redundant gate logic across multi-bit binary adders.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30873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DD3FC"/>
                </a:solidFill>
                <a:latin typeface="Inter"/>
              </a:rPr>
              <a:t>F(A,B,C,D) = Σ(0, 2, 8, 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402085"/>
            <a:ext cx="5834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Gray Code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66878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Cells ordered as 00, 01, 11, 10 to guarantee adjacent cells differ by exactly 1 bit.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583185"/>
            <a:ext cx="5834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Power-of-2 Grouping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84988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Group adjacent 1's in rectangular sizes of 1, 2, 4, 8, or 16 cells to simplify SOP.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764285"/>
            <a:ext cx="5834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Wrap-Around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503098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Inter"/>
              </a:rPr>
              <a:t>Edges and corners connect continuously to form maximum possible prime implicants.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4397573"/>
            <a:ext cx="57531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1F5F9"/>
                </a:solidFill>
                <a:latin typeface="Inter"/>
              </a:rPr>
              <a:t>Minimized Output: F = B' · D'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0710"/>
            <a:ext cx="5372100" cy="2133600"/>
          </a:xfrm>
          <a:prstGeom prst="roundRect">
            <a:avLst>
              <a:gd name="adj" fmla="val 535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830710"/>
            <a:ext cx="5372100" cy="2133600"/>
          </a:xfrm>
          <a:prstGeom prst="roundRect">
            <a:avLst>
              <a:gd name="adj" fmla="val 535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Binary Arithmetic Core: Adders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Fundamental circuits executing binary addition in digital processor ALUs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068835"/>
            <a:ext cx="61198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Inter"/>
              </a:rPr>
              <a:t>Half Adder (HA)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11735"/>
            <a:ext cx="6119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Adds 2 single-bit inputs without prior carry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068835"/>
            <a:ext cx="5743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5803D"/>
                </a:solidFill>
                <a:latin typeface="Inter"/>
              </a:rPr>
              <a:t>Full Adder (FA)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411735"/>
            <a:ext cx="5743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Adds 3 bits: Input A, Input B, and Carry-In (Cin).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754635"/>
            <a:ext cx="611981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Sum Output: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S = A ⊕ B (XOR Gate)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059435"/>
            <a:ext cx="611981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Carry Output: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Cout = A · B (AND 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440435"/>
            <a:ext cx="6119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Limitation: Cannot accept carry input from lower bits.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754635"/>
            <a:ext cx="57435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Sum Output: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S = A ⊕ B ⊕ Cin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4059435"/>
            <a:ext cx="57435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Carry Output: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Cout = (A·B) + Cin·(A ⊕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440435"/>
            <a:ext cx="57435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Built using 2 Half Adders + 1 OR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16573"/>
            <a:ext cx="10972800" cy="904875"/>
          </a:xfrm>
          <a:prstGeom prst="roundRect">
            <a:avLst>
              <a:gd name="adj" fmla="val 12631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73573"/>
            <a:ext cx="2386012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1862" y="2873573"/>
            <a:ext cx="2386012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2873573"/>
            <a:ext cx="2386012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96387" y="2873573"/>
            <a:ext cx="2386012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197423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197423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197423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Ripple Carry Adder (RCA) Delay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Cascading full adders for N-bit operands and propagation delay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3160" y="4311848"/>
            <a:ext cx="452883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991B1B"/>
                </a:solidFill>
                <a:latin typeface="monospace"/>
              </a:rPr>
              <a:t>Linear O(N) Propagation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285" y="3083123"/>
            <a:ext cx="24586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Bit 0 (LSB)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285" y="3321248"/>
            <a:ext cx="24586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FA 0 → Generates 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5548" y="3083123"/>
            <a:ext cx="24586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Bit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5548" y="3321248"/>
            <a:ext cx="24586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FA 1 → Generates 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7810" y="3083123"/>
            <a:ext cx="24586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Bit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7810" y="3321248"/>
            <a:ext cx="24586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FA 2 → Generates 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0073" y="3083123"/>
            <a:ext cx="24586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Bit 3 (MSB)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0073" y="3321248"/>
            <a:ext cx="24586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FA 3 → Generates Cout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254698"/>
            <a:ext cx="6119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Inter"/>
              </a:rPr>
              <a:t>Total Propagation Delay 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492823"/>
            <a:ext cx="6119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7F1D1D"/>
                </a:solidFill>
                <a:latin typeface="Inter"/>
              </a:rPr>
              <a:t>t_delay = N × t_FA (where N is bit-width and t_FA is single FA delay)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68430" y="2940248"/>
            <a:ext cx="4613969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87835"/>
            <a:ext cx="609213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73710"/>
            <a:ext cx="609213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811785"/>
            <a:ext cx="6092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87835"/>
            <a:ext cx="6092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687835"/>
            <a:ext cx="38100" cy="1133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92205" y="2687835"/>
            <a:ext cx="9525" cy="1133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5097660"/>
            <a:ext cx="6092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973710"/>
            <a:ext cx="6092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3973710"/>
            <a:ext cx="38100" cy="11334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92205" y="3973710"/>
            <a:ext cx="9525" cy="1133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965" y="3216473"/>
            <a:ext cx="3429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Controlled Binary Adder / Subtractor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Utilizing Two's Complement arithmetic via XOR conditional inversion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043" y="3826073"/>
            <a:ext cx="533074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Hardware 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6965" y="4149923"/>
            <a:ext cx="507689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Zero extra adders required. Single control wire toggles arithmetic operations instantly in RISC-V ALUs.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2925960"/>
            <a:ext cx="69841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Addition Mode (SUB = 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183135"/>
            <a:ext cx="56825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XOR gates pass operand B unchanged (B ⊕ 0 = B). Initial carry Cin = 0. Circuit computes A + 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4211835"/>
            <a:ext cx="69841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Subtraction Mode (SUB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469010"/>
            <a:ext cx="56825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XOR gates invert operand B (B ⊕ 1 = B'). Initial Cin = 1 adds +1, completing 2's complement (A + B' + 1).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59323"/>
            <a:ext cx="3530649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159323"/>
            <a:ext cx="3530649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159323"/>
            <a:ext cx="3530649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Data Routing: Multiplexers (MUX)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Hardware data selectors routing multiple data channels into single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97448"/>
            <a:ext cx="381799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Inter"/>
              </a:rPr>
              <a:t>2-to-1 MUX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21298"/>
            <a:ext cx="381799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1 Select Line (S0)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16573"/>
            <a:ext cx="314964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Routes Register vs Immediate values into RISC-V ALU input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874" y="3397448"/>
            <a:ext cx="381799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Inter"/>
              </a:rPr>
              <a:t>4-to-1 MUX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721298"/>
            <a:ext cx="381799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2 Select Lines (S1, S0)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4016573"/>
            <a:ext cx="314964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Selects final output among ADD, SUB, AND, and OR computation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024" y="3397448"/>
            <a:ext cx="381799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Inter"/>
              </a:rPr>
              <a:t>8-to-1 MUX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721298"/>
            <a:ext cx="381799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3 Select Lines (S2, S1, S0)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4016573"/>
            <a:ext cx="314964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Routes complex opcode operations across full 32-bit RISC-V instruction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0275" y="2940248"/>
            <a:ext cx="5572125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87835"/>
            <a:ext cx="509587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73710"/>
            <a:ext cx="509587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48400" y="3530798"/>
          <a:ext cx="5095873" cy="1085850"/>
        </p:xfrm>
        <a:graphic>
          <a:graphicData uri="http://schemas.openxmlformats.org/drawingml/2006/table">
            <a:tbl>
              <a:tblPr/>
              <a:tblGrid>
                <a:gridCol w="76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A1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A0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Y3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Y2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Y1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Y0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Operation Decoding: Decoders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Converting binary code inputs into active-high one-hot signal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178373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Truth Table: 2-to-4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25960"/>
            <a:ext cx="60632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2-to-4 Binary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21235"/>
            <a:ext cx="47148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Translates 2 input lines into 4 unique output lines. Exactly 1 output line is HIGH for any input combination.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211835"/>
            <a:ext cx="60632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3-to-8 Control Unit 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507110"/>
            <a:ext cx="47148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Decodes 3-bit RISC-V function fields (funct3) to enable specific hardware functional execution units.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406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6406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6406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506985"/>
            <a:ext cx="3028950" cy="428625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81525" y="3506985"/>
            <a:ext cx="3028950" cy="428625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15325" y="3506985"/>
            <a:ext cx="3028950" cy="428625"/>
          </a:xfrm>
          <a:prstGeom prst="roundRect">
            <a:avLst>
              <a:gd name="adj" fmla="val 13333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Digital Magnitude Comparators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Evaluating quantitative relationships between binary operands: A &gt; B, A = B, and A &lt;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02185"/>
            <a:ext cx="3786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Equality (A =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621285"/>
            <a:ext cx="2895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(A0 ⊙ B0) · (A1 ⊙ B1)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049910"/>
            <a:ext cx="3124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Uses XNOR gates to evaluate matching bit pairs. High only when both operands are identical.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202185"/>
            <a:ext cx="3786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Greater Than (A &gt; 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825" y="3621285"/>
            <a:ext cx="2895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Inter"/>
              </a:rPr>
              <a:t>A1·B1' + (A1⊙B1)·A0·B0'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49910"/>
            <a:ext cx="3124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Checks MSB first. If MSBs equal, evaluates LSBs for magnitude supremacy.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202185"/>
            <a:ext cx="3786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Less Than (A &lt; 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3621285"/>
            <a:ext cx="2895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E185D"/>
                </a:solidFill>
                <a:latin typeface="Inter"/>
              </a:rPr>
              <a:t>A1'·B1 + (A1⊙B1)·A0'·B0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049910"/>
            <a:ext cx="3124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Drives RISC-V SLT (Set-Less-Than) conditional branch operations in hardware.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35423"/>
            <a:ext cx="6591300" cy="2924175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05700" y="3135510"/>
            <a:ext cx="4076700" cy="15240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025973"/>
            <a:ext cx="61150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578423"/>
            <a:ext cx="61150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4130873"/>
            <a:ext cx="61150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4683323"/>
            <a:ext cx="61150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1-Bit Multi-Operation ALU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Unifying logic gates, full adder, and MUX selection into a single bit-slice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673548"/>
            <a:ext cx="7643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Operation Map (2-Bit Control)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3825" y="3373635"/>
            <a:ext cx="44481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Bit-Slice Modular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3825" y="3735585"/>
            <a:ext cx="3695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Repeat this 1-bit logic cell 32 times and cascade carry signals (Cout → Cin) to build a complete 32-bit RISC-V CPU ALU.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149798"/>
            <a:ext cx="61540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monospace"/>
              </a:rPr>
              <a:t>Op = 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2550" y="3149798"/>
            <a:ext cx="209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Bitwise AND 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702248"/>
            <a:ext cx="61540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monospace"/>
              </a:rPr>
              <a:t>Op =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5900" y="3702248"/>
            <a:ext cx="1928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Bitwise OR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254698"/>
            <a:ext cx="61540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monospace"/>
              </a:rPr>
              <a:t>Op =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950" y="4254698"/>
            <a:ext cx="33337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Addition / Subtraction (Adder Block)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4807148"/>
            <a:ext cx="61540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monospace"/>
              </a:rPr>
              <a:t>Op =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8650" y="4807148"/>
            <a:ext cx="3000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Set Less Than (SLT Comparison)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498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498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4981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Complete RISC-V Datapath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Integrating the ALU into register files, control unit, and memory buses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87935"/>
            <a:ext cx="3786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1. Operand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64160"/>
            <a:ext cx="3124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Registers x0–x31 supply operands A and B directly to the ALU inputs in a single clock 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487935"/>
            <a:ext cx="3786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2. Parallel 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764160"/>
            <a:ext cx="3124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ADD, SUB, AND, OR, and SLT sub-circuits evaluate inputs concurrently in hardware.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487935"/>
            <a:ext cx="3786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3. Result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764160"/>
            <a:ext cx="31242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ALU Control decoder drives MUX selector lines, routing desired result to Write-Back bus.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81287" y="3971925"/>
            <a:ext cx="2019300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29187" y="3971925"/>
            <a:ext cx="2219325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77112" y="3971925"/>
            <a:ext cx="2133600" cy="514350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14339" y="2371725"/>
            <a:ext cx="6563320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8FAFC"/>
                </a:solidFill>
                <a:latin typeface="Space Grotesk"/>
              </a:rPr>
              <a:t>Module 2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057525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Combinational logic forms the core execution layer of digital CPUs, translating raw logic gate equations into full arithmetic processors.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5575" y="4124325"/>
            <a:ext cx="19907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Inter"/>
              </a:rPr>
              <a:t>K-Map Minimization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8471" y="4124325"/>
            <a:ext cx="2240756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Inter"/>
              </a:rPr>
              <a:t>Controlled Subtraction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7112" y="4124325"/>
            <a:ext cx="2133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Inter"/>
              </a:rPr>
              <a:t>RISC-V ALU Datapath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1034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Inter</vt:lpstr>
      <vt:lpstr>monospace</vt:lpstr>
      <vt:lpstr>Arial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Chavan Ridhi</dc:creator>
  <cp:keywords/>
  <dc:description>generated using python-pptx</dc:description>
  <cp:lastModifiedBy>Ridhi Chavan</cp:lastModifiedBy>
  <cp:revision>1</cp:revision>
  <dcterms:created xsi:type="dcterms:W3CDTF">2013-01-27T09:14:16Z</dcterms:created>
  <dcterms:modified xsi:type="dcterms:W3CDTF">2026-10-01T02:57:09Z</dcterms:modified>
  <cp:category/>
</cp:coreProperties>
</file>